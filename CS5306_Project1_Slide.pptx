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d8f368bd-4d9b-c2b0-a41c-c6966492f54b}">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2F4F7"/>
                </a:solidFill>
                <a:latin typeface="+mn-lt"/>
              </a:defRPr>
            </a:pPr>
            <a:r>
              <a:rPr sz="1400" b="0" i="0" u="none" strike="noStrike">
                <a:solidFill>
                  <a:srgbClr val="F2F4F7"/>
                </a:solidFill>
                <a:latin typeface="+mn-lt"/>
              </a:rPr>
              <a:t>Wrote another note within 30 days</a:t>
            </a:r>
          </a:p>
        </c:rich>
      </c:tx>
      <c:layout/>
      <c:overlay val="0"/>
    </c:title>
    <c:autoTitleDeleted val="0"/>
    <c:plotArea>
      <c:layout/>
      <c:barChart>
        <c:barDir val="col"/>
        <c:grouping val="clustered"/>
        <c:varyColors val="0"/>
        <c:ser>
          <c:idx val="0"/>
          <c:order val="0"/>
          <c:tx>
            <c:strRef>
              <c:f>Sheet1!$B$1</c:f>
              <c:strCache>
                <c:ptCount val="1"/>
                <c:pt idx="0">
                  <c:v>30-day retention</c:v>
                </c:pt>
              </c:strCache>
            </c:strRef>
          </c:tx>
          <c:spPr>
            <a:solidFill>
              <a:srgbClr val="56B4E9"/>
            </a:solidFill>
            <a:effectLst/>
          </c:spPr>
          <c:invertIfNegative val="0"/>
          <c:dLbls>
            <c:numFmt formatCode="0.0&quot;%&quot;" sourceLinked="0"/>
            <c:txPr>
              <a:bodyPr/>
              <a:lstStyle/>
              <a:p>
                <a:pPr>
                  <a:defRPr b="1" i="0" strike="noStrike" sz="1600" u="none">
                    <a:solidFill>
                      <a:srgbClr val="F2F4F7"/>
                    </a:solidFill>
                    <a:latin typeface="+mn-lt"/>
                  </a:defRPr>
                </a:pPr>
              </a:p>
            </c:txPr>
            <c:showLegendKey val="0"/>
            <c:showVal val="1"/>
            <c:showCatName val="0"/>
            <c:showSerName val="0"/>
            <c:showPercent val="0"/>
            <c:showBubbleSize val="0"/>
            <c:showLeaderLines val="0"/>
          </c:dLbls>
          <c:dPt>
            <c:idx val="0"/>
            <c:invertIfNegative val="0"/>
            <c:bubble3D val="0"/>
            <c:spPr>
              <a:solidFill>
                <a:srgbClr val="56B4E9"/>
              </a:solidFill>
              <a:effectLst/>
            </c:spPr>
          </c:dPt>
          <c:dPt>
            <c:idx val="1"/>
            <c:invertIfNegative val="0"/>
            <c:bubble3D val="0"/>
            <c:spPr>
              <a:solidFill>
                <a:srgbClr val="2BB596"/>
              </a:solidFill>
              <a:effectLst/>
            </c:spPr>
          </c:dPt>
          <c:dPt>
            <c:idx val="2"/>
            <c:invertIfNegative val="0"/>
            <c:bubble3D val="0"/>
            <c:spPr>
              <a:solidFill>
                <a:srgbClr val="F07A35"/>
              </a:solidFill>
              <a:effectLst/>
            </c:spPr>
          </c:dPt>
          <c:cat>
            <c:multiLvlStrRef>
              <c:f>Sheet1!$A$2:$A$4</c:f>
              <c:multiLvlStrCache>
                <c:ptCount val="3"/>
                <c:lvl>
                  <c:pt idx="0">
                    <c:v>Helpful</c:v>
                  </c:pt>
                  <c:pt idx="1">
                    <c:v>No verdict</c:v>
                  </c:pt>
                  <c:pt idx="2">
                    <c:v>Not Helpful</c:v>
                  </c:pt>
                </c:lvl>
              </c:multiLvlStrCache>
            </c:multiLvlStrRef>
          </c:cat>
          <c:val>
            <c:numRef>
              <c:f>Sheet1!$B$2:$B$4</c:f>
              <c:numCache>
                <c:formatCode>General</c:formatCode>
                <c:ptCount val="3"/>
                <c:pt idx="0">
                  <c:v>27.6</c:v>
                </c:pt>
                <c:pt idx="1">
                  <c:v>25.6</c:v>
                </c:pt>
                <c:pt idx="2">
                  <c:v>10.6</c:v>
                </c:pt>
              </c:numCache>
            </c:numRef>
          </c:val>
        </c:ser>
        <c:dLbls>
          <c:numFmt formatCode="0.0&quot;%&quot;" sourceLinked="0"/>
          <c:txPr>
            <a:bodyPr/>
            <a:lstStyle/>
            <a:p>
              <a:pPr>
                <a:defRPr b="1" i="0" strike="noStrike" sz="1600" u="none">
                  <a:solidFill>
                    <a:srgbClr val="F2F4F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4A5260"/>
            </a:solidFill>
            <a:prstDash val="solid"/>
            <a:round/>
          </a:ln>
        </c:spPr>
        <c:txPr>
          <a:bodyPr/>
          <a:lstStyle/>
          <a:p>
            <a:pPr>
              <a:defRPr sz="1300" b="0" i="0" u="none" strike="noStrike">
                <a:solidFill>
                  <a:srgbClr val="C9CFD8"/>
                </a:solidFill>
                <a:latin typeface="+mn-lt"/>
              </a:defRPr>
            </a:pPr>
            <a:endParaRPr lang="en-US"/>
          </a:p>
        </c:txPr>
        <c:crossAx val="2094734552"/>
        <c:crosses val="autoZero"/>
        <c:auto val="1"/>
        <c:lblAlgn val="ctr"/>
        <c:noMultiLvlLbl val="1"/>
      </c:catAx>
      <c:valAx>
        <c:axId val="2094734552"/>
        <c:scaling>
          <c:orientation val="minMax"/>
          <c:max val="3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one minute.
We studied X's Community Notes, where volunteers write notes that add context to posts. A first note can be rated Helpful, rated Not Helpful, or, most of the time, get no verdict at all. Wikipedia research says rejection drives newcomers away, but Wikipedia has no "no verdict" state. So we asked whether a Not Helpful verdict is associated with different retention than no verdict.
Using X's public data, about 3 million notes and over 200,000 first-time authors since 2023, we checked who wrote another note within 30 days. Authors with no verdict returned at about the same rate as Helpful authors, roughly 26 versus 28 percent. Authors rated Not Helpful returned at about 11 percent.
Part of this gap reflects a platform rule: since April 2024, a Not Helpful first note also removes the author's ability to write. For cohorts before the rule, the gap is about 6 points; after it, about 17. So a Not Helpful verdict on its own is associated with a modest drop, and the rule accounts for most of the rest. These are associations, not causal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UMMARY">
    <p:bg>
      <p:bgPr>
        <a:solidFill>
          <a:srgbClr val="15181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rtlCol="0"/>
          <a:lstStyle>
            <a:lvl1pPr indent="0" marL="0">
              <a:buNone/>
              <a:defRPr lang="en-US" sz="1100" dirty="0">
                <a:solidFill>
                  <a:schemeClr val="bg2"/>
                </a:solidFill>
              </a:defRPr>
            </a:lvl1pPr>
          </a:lstStyle>
          <a:p>
            <a:pPr indent="0" marL="0">
              <a:buNone/>
            </a:pPr>
            <a:endParaRPr lang="en-US" sz="1100" dirty="0"/>
          </a:p>
        </p:txBody>
      </p:sp>
      <p:sp>
        <p:nvSpPr>
          <p:cNvPr id="3" name="Text 0"/>
          <p:cNvSpPr/>
          <p:nvPr>
            <p:ph idx="101" type="title" hasCustomPrompt="1"/>
          </p:nvPr>
        </p:nvSpPr>
        <p:spPr>
          <a:xfrm>
            <a:off x="457200" y="530352"/>
            <a:ext cx="8229600" cy="868680"/>
          </a:xfrm>
          <a:prstGeom prst="rect">
            <a:avLst/>
          </a:prstGeom>
          <a:noFill/>
          <a:ln/>
        </p:spPr>
        <p:txBody>
          <a:bodyPr wrap="square" rtlCol="0"/>
          <a:lstStyle>
            <a:lvl1pPr indent="0" marL="0">
              <a:buNone/>
              <a:defRPr lang="en-US" sz="2600" b="1" dirty="0">
                <a:solidFill>
                  <a:schemeClr val="bg1"/>
                </a:solidFill>
              </a:defRPr>
            </a:lvl1pPr>
          </a:lstStyle>
          <a:p>
            <a:pPr indent="0" marL="0">
              <a:buNone/>
            </a:pPr>
            <a:endParaRPr lang="en-US" sz="2600" dirty="0"/>
          </a:p>
        </p:txBody>
      </p:sp>
      <p:sp>
        <p:nvSpPr>
          <p:cNvPr id="4" name="Text 0"/>
          <p:cNvSpPr/>
          <p:nvPr/>
        </p:nvSpPr>
        <p:spPr>
          <a:xfrm>
            <a:off x="457200" y="4727448"/>
            <a:ext cx="8229600" cy="256032"/>
          </a:xfrm>
          <a:prstGeom prst="rect">
            <a:avLst/>
          </a:prstGeom>
          <a:noFill/>
          <a:ln/>
        </p:spPr>
        <p:txBody>
          <a:bodyPr wrap="square" lIns="0" tIns="0" rIns="0" bIns="0" rtlCol="0" anchor="t"/>
          <a:lstStyle/>
          <a:p>
            <a:pPr indent="0" marL="0">
              <a:buNone/>
            </a:pPr>
            <a:r>
              <a:rPr lang="en-US" sz="1000" dirty="0">
                <a:solidFill>
                  <a:schemeClr val="bg2"/>
                </a:solidFill>
              </a:rPr>
              <a:t>Data: public Community Notes snapshot (Sept 2026), 3.1M notes, 227K first-time authors since 2023. All results are associations, not causal effects.</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nchor="t"/>
          <a:lstStyle/>
          <a:p>
            <a:pPr indent="0" marL="0">
              <a:buNone/>
            </a:pPr>
            <a:r>
              <a:rPr lang="en-US" sz="1100" dirty="0">
                <a:solidFill>
                  <a:schemeClr val="bg2"/>
                </a:solidFill>
              </a:rPr>
              <a:t>CS 5306 / INFO 5306 Project 1  ·  Kevin Lei, Kyungmin Nam, Brittany Sun</a:t>
            </a:r>
            <a:endParaRPr lang="en-US" sz="1100" dirty="0"/>
          </a:p>
        </p:txBody>
      </p:sp>
      <p:sp>
        <p:nvSpPr>
          <p:cNvPr id="3" name="Text 0"/>
          <p:cNvSpPr/>
          <p:nvPr>
            <p:ph idx="101" type="title" hasCustomPrompt="1"/>
          </p:nvPr>
        </p:nvSpPr>
        <p:spPr>
          <a:xfrm>
            <a:off x="457200" y="530352"/>
            <a:ext cx="8229600" cy="868680"/>
          </a:xfrm>
          <a:prstGeom prst="rect">
            <a:avLst/>
          </a:prstGeom>
          <a:noFill/>
          <a:ln/>
        </p:spPr>
        <p:txBody>
          <a:bodyPr wrap="square" lIns="0" tIns="0" rIns="0" bIns="0" rtlCol="0" anchor="t"/>
          <a:lstStyle/>
          <a:p>
            <a:pPr indent="0" marL="0">
              <a:buNone/>
            </a:pPr>
            <a:r>
              <a:rPr lang="en-US" sz="2600" b="1" dirty="0">
                <a:solidFill>
                  <a:schemeClr val="bg1"/>
                </a:solidFill>
              </a:rPr>
              <a:t>First-note feedback and newcomer retention in X Community Notes</a:t>
            </a:r>
            <a:endParaRPr lang="en-US" sz="2600" dirty="0"/>
          </a:p>
        </p:txBody>
      </p:sp>
      <p:sp>
        <p:nvSpPr>
          <p:cNvPr id="4" name="label THE QUESTION"/>
          <p:cNvSpPr txBox="1"/>
          <p:nvPr/>
        </p:nvSpPr>
        <p:spPr>
          <a:xfrm>
            <a:off x="457200" y="1572768"/>
            <a:ext cx="4114800" cy="228600"/>
          </a:xfrm>
          <a:prstGeom prst="rect">
            <a:avLst/>
          </a:prstGeom>
          <a:noFill/>
          <a:ln/>
        </p:spPr>
        <p:txBody>
          <a:bodyPr wrap="square" lIns="0" tIns="0" rIns="0" bIns="0" rtlCol="0" anchor="ctr"/>
          <a:lstStyle/>
          <a:p>
            <a:pPr indent="0" marL="0">
              <a:buNone/>
            </a:pPr>
            <a:r>
              <a:rPr lang="en-US" sz="1100" b="1" spc="150" kern="0" dirty="0">
                <a:solidFill>
                  <a:schemeClr val="bg2"/>
                </a:solidFill>
              </a:rPr>
              <a:t>THE QUESTION</a:t>
            </a:r>
            <a:endParaRPr lang="en-US" sz="1100" dirty="0"/>
          </a:p>
        </p:txBody>
      </p:sp>
      <p:sp>
        <p:nvSpPr>
          <p:cNvPr id="5" name="question"/>
          <p:cNvSpPr txBox="1"/>
          <p:nvPr/>
        </p:nvSpPr>
        <p:spPr>
          <a:xfrm>
            <a:off x="457200" y="1810512"/>
            <a:ext cx="4114800" cy="868680"/>
          </a:xfrm>
          <a:prstGeom prst="rect">
            <a:avLst/>
          </a:prstGeom>
          <a:noFill/>
          <a:ln/>
        </p:spPr>
        <p:txBody>
          <a:bodyPr wrap="square" lIns="0" tIns="0" rIns="0" bIns="0" rtlCol="0" anchor="t"/>
          <a:lstStyle/>
          <a:p>
            <a:pPr indent="0" marL="0">
              <a:buNone/>
            </a:pPr>
            <a:r>
              <a:rPr lang="en-US" sz="1400" dirty="0">
                <a:solidFill>
                  <a:schemeClr val="bg1"/>
                </a:solidFill>
              </a:rPr>
              <a:t>A first note can be rated Helpful, rated Not Helpful, or (for 83% of notes) receive no verdict. How does retention differ between Not Helpful and no verdict?</a:t>
            </a:r>
            <a:endParaRPr lang="en-US" sz="1400" dirty="0"/>
          </a:p>
        </p:txBody>
      </p:sp>
      <p:sp>
        <p:nvSpPr>
          <p:cNvPr id="6" name="label A RELEVANT PLATFORM RULE"/>
          <p:cNvSpPr txBox="1"/>
          <p:nvPr/>
        </p:nvSpPr>
        <p:spPr>
          <a:xfrm>
            <a:off x="457200" y="2743200"/>
            <a:ext cx="4114800" cy="228600"/>
          </a:xfrm>
          <a:prstGeom prst="rect">
            <a:avLst/>
          </a:prstGeom>
          <a:noFill/>
          <a:ln/>
        </p:spPr>
        <p:txBody>
          <a:bodyPr wrap="square" lIns="0" tIns="0" rIns="0" bIns="0" rtlCol="0" anchor="ctr"/>
          <a:lstStyle/>
          <a:p>
            <a:pPr indent="0" marL="0">
              <a:buNone/>
            </a:pPr>
            <a:r>
              <a:rPr lang="en-US" sz="1100" b="1" spc="150" kern="0" dirty="0">
                <a:solidFill>
                  <a:schemeClr val="bg2"/>
                </a:solidFill>
              </a:rPr>
              <a:t>A RELEVANT PLATFORM RULE</a:t>
            </a:r>
            <a:endParaRPr lang="en-US" sz="1100" dirty="0"/>
          </a:p>
        </p:txBody>
      </p:sp>
      <p:sp>
        <p:nvSpPr>
          <p:cNvPr id="7" name="twist"/>
          <p:cNvSpPr txBox="1"/>
          <p:nvPr/>
        </p:nvSpPr>
        <p:spPr>
          <a:xfrm>
            <a:off x="457200" y="2980944"/>
            <a:ext cx="4114800" cy="457200"/>
          </a:xfrm>
          <a:prstGeom prst="rect">
            <a:avLst/>
          </a:prstGeom>
          <a:noFill/>
          <a:ln/>
        </p:spPr>
        <p:txBody>
          <a:bodyPr wrap="square" lIns="0" tIns="0" rIns="0" bIns="0" rtlCol="0" anchor="t"/>
          <a:lstStyle/>
          <a:p>
            <a:pPr indent="0" marL="0">
              <a:buNone/>
            </a:pPr>
            <a:r>
              <a:rPr lang="en-US" sz="1400" dirty="0">
                <a:solidFill>
                  <a:schemeClr val="bg1"/>
                </a:solidFill>
              </a:rPr>
              <a:t>Since April 2024, a Not Helpful verdict on a first note also removes the ability to write notes.</a:t>
            </a:r>
            <a:endParaRPr lang="en-US" sz="1400" dirty="0"/>
          </a:p>
        </p:txBody>
      </p:sp>
      <p:sp>
        <p:nvSpPr>
          <p:cNvPr id="8" name="before card"/>
          <p:cNvSpPr/>
          <p:nvPr/>
        </p:nvSpPr>
        <p:spPr>
          <a:xfrm>
            <a:off x="457200" y="3566160"/>
            <a:ext cx="1965960" cy="1005840"/>
          </a:xfrm>
          <a:prstGeom prst="roundRect">
            <a:avLst>
              <a:gd name="adj" fmla="val 7273"/>
            </a:avLst>
          </a:prstGeom>
          <a:solidFill>
            <a:schemeClr val="tx2"/>
          </a:solidFill>
          <a:ln/>
        </p:spPr>
      </p:sp>
      <p:sp>
        <p:nvSpPr>
          <p:cNvPr id="9" name="before number"/>
          <p:cNvSpPr txBox="1"/>
          <p:nvPr/>
        </p:nvSpPr>
        <p:spPr>
          <a:xfrm>
            <a:off x="640080" y="3639312"/>
            <a:ext cx="1645920" cy="548640"/>
          </a:xfrm>
          <a:prstGeom prst="rect">
            <a:avLst/>
          </a:prstGeom>
          <a:noFill/>
          <a:ln/>
        </p:spPr>
        <p:txBody>
          <a:bodyPr wrap="square" lIns="0" tIns="0" rIns="0" bIns="0" rtlCol="0" anchor="ctr"/>
          <a:lstStyle/>
          <a:p>
            <a:pPr indent="0" marL="0">
              <a:buNone/>
            </a:pPr>
            <a:r>
              <a:rPr lang="en-US" sz="2400" b="1" dirty="0">
                <a:solidFill>
                  <a:schemeClr val="accent6"/>
                </a:solidFill>
                <a:latin typeface="Cambria" pitchFamily="34" charset="0"/>
                <a:ea typeface="Cambria" pitchFamily="34" charset="-122"/>
                <a:cs typeface="Cambria" pitchFamily="34" charset="-120"/>
              </a:rPr>
              <a:t>−6.1 pts</a:t>
            </a:r>
            <a:endParaRPr lang="en-US" sz="2400" dirty="0"/>
          </a:p>
        </p:txBody>
      </p:sp>
      <p:sp>
        <p:nvSpPr>
          <p:cNvPr id="10" name="before label"/>
          <p:cNvSpPr txBox="1"/>
          <p:nvPr/>
        </p:nvSpPr>
        <p:spPr>
          <a:xfrm>
            <a:off x="640080" y="4187952"/>
            <a:ext cx="1645920" cy="310896"/>
          </a:xfrm>
          <a:prstGeom prst="rect">
            <a:avLst/>
          </a:prstGeom>
          <a:noFill/>
          <a:ln/>
        </p:spPr>
        <p:txBody>
          <a:bodyPr wrap="square" lIns="0" tIns="0" rIns="0" bIns="0" rtlCol="0" anchor="t"/>
          <a:lstStyle/>
          <a:p>
            <a:pPr indent="0" marL="0">
              <a:buNone/>
            </a:pPr>
            <a:r>
              <a:rPr lang="en-US" sz="1100" dirty="0">
                <a:solidFill>
                  <a:schemeClr val="bg2"/>
                </a:solidFill>
              </a:rPr>
              <a:t>Not Helpful vs. no verdict, before the rule</a:t>
            </a:r>
            <a:endParaRPr lang="en-US" sz="1100" dirty="0"/>
          </a:p>
        </p:txBody>
      </p:sp>
      <p:sp>
        <p:nvSpPr>
          <p:cNvPr id="11" name="after card"/>
          <p:cNvSpPr/>
          <p:nvPr/>
        </p:nvSpPr>
        <p:spPr>
          <a:xfrm>
            <a:off x="2606040" y="3566160"/>
            <a:ext cx="1965960" cy="1005840"/>
          </a:xfrm>
          <a:prstGeom prst="roundRect">
            <a:avLst>
              <a:gd name="adj" fmla="val 7273"/>
            </a:avLst>
          </a:prstGeom>
          <a:solidFill>
            <a:schemeClr val="tx2"/>
          </a:solidFill>
          <a:ln/>
        </p:spPr>
      </p:sp>
      <p:sp>
        <p:nvSpPr>
          <p:cNvPr id="12" name="after number"/>
          <p:cNvSpPr txBox="1"/>
          <p:nvPr/>
        </p:nvSpPr>
        <p:spPr>
          <a:xfrm>
            <a:off x="2788920" y="3639312"/>
            <a:ext cx="1645920" cy="54864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−17.1 pts</a:t>
            </a:r>
            <a:endParaRPr lang="en-US" sz="2400" dirty="0"/>
          </a:p>
        </p:txBody>
      </p:sp>
      <p:sp>
        <p:nvSpPr>
          <p:cNvPr id="13" name="after label"/>
          <p:cNvSpPr txBox="1"/>
          <p:nvPr/>
        </p:nvSpPr>
        <p:spPr>
          <a:xfrm>
            <a:off x="2788920" y="4187952"/>
            <a:ext cx="1645920" cy="310896"/>
          </a:xfrm>
          <a:prstGeom prst="rect">
            <a:avLst/>
          </a:prstGeom>
          <a:noFill/>
          <a:ln/>
        </p:spPr>
        <p:txBody>
          <a:bodyPr wrap="square" lIns="0" tIns="0" rIns="0" bIns="0" rtlCol="0" anchor="t"/>
          <a:lstStyle/>
          <a:p>
            <a:pPr indent="0" marL="0">
              <a:buNone/>
            </a:pPr>
            <a:r>
              <a:rPr lang="en-US" sz="1100" dirty="0">
                <a:solidFill>
                  <a:schemeClr val="bg2"/>
                </a:solidFill>
              </a:rPr>
              <a:t>Not Helpful vs. no verdict, after the rule</a:t>
            </a:r>
            <a:endParaRPr lang="en-US" sz="1100" dirty="0"/>
          </a:p>
        </p:txBody>
      </p:sp>
      <p:graphicFrame>
        <p:nvGraphicFramePr>
          <p:cNvPr id="14" name="retention chart" descr=""/>
          <p:cNvGraphicFramePr/>
          <p:nvPr/>
        </p:nvGraphicFramePr>
        <p:xfrm>
          <a:off x="4892040" y="1481328"/>
          <a:ext cx="3794760" cy="31089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theme/theme1.xml><?xml version="1.0" encoding="utf-8"?>
<a:theme xmlns:a="http://schemas.openxmlformats.org/drawingml/2006/main" name="Community Notes Retention">
  <a:themeElements>
    <a:clrScheme name="Community Notes Retention">
      <a:dk1>
        <a:srgbClr val="15181E"/>
      </a:dk1>
      <a:lt1>
        <a:srgbClr val="F2F4F7"/>
      </a:lt1>
      <a:dk2>
        <a:srgbClr val="232833"/>
      </a:dk2>
      <a:lt2>
        <a:srgbClr val="9AA3AF"/>
      </a:lt2>
      <a:accent1>
        <a:srgbClr val="56B4E9"/>
      </a:accent1>
      <a:accent2>
        <a:srgbClr val="F07A35"/>
      </a:accent2>
      <a:accent3>
        <a:srgbClr val="2BB596"/>
      </a:accent3>
      <a:accent4>
        <a:srgbClr val="C9CFD8"/>
      </a:accent4>
      <a:accent5>
        <a:srgbClr val="4A5260"/>
      </a:accent5>
      <a:accent6>
        <a:srgbClr val="E6C35C"/>
      </a:accent6>
      <a:hlink>
        <a:srgbClr val="56B4E9"/>
      </a:hlink>
      <a:folHlink>
        <a:srgbClr val="9AA3AF"/>
      </a:folHlink>
    </a:clrScheme>
    <a:fontScheme name="Community Notes Reten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Feedback and Newcomer Retention in X Community Notes</dc:title>
  <dc:subject>PptxGenJS Presentation</dc:subject>
  <dc:creator>Kevin Lei, Kyungmin Nam, Brittany Sun</dc:creator>
  <cp:lastModifiedBy>Kevin Lei, Kyungmin Nam, Brittany Sun</cp:lastModifiedBy>
  <cp:revision>1</cp:revision>
  <dcterms:created xsi:type="dcterms:W3CDTF">2026-10-02T21:23:01Z</dcterms:created>
  <dcterms:modified xsi:type="dcterms:W3CDTF">2026-10-02T21:23:01Z</dcterms:modified>
</cp:coreProperties>
</file>